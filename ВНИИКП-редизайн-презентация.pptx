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4206240" cy="4206240"/>
          </a:xfrm>
          <a:prstGeom prst="ellipse">
            <a:avLst/>
          </a:prstGeom>
          <a:solidFill>
            <a:srgbClr val="C4101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2377440"/>
            <a:ext cx="3291840" cy="3291840"/>
          </a:xfrm>
          <a:prstGeom prst="ellipse">
            <a:avLst/>
          </a:prstGeom>
          <a:solidFill>
            <a:srgbClr val="E08A1E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ВНИИ КОНДИТЕРСКОЙ ПРОМЫШЛЕННОСТИ · ФИЛИАЛ ФНЦ ПИЩЕВЫХ СИСТЕМ им. В.М. ГОРБАТОВА РАН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Новый сайт института,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который приводит клиентов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Концепция и уже работающий прототип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6928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 Едлин · создаю сайты с 2007 года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Несколько слов о себе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 зовут Максим Едлин. Создаю сайты с 2007 года — почти двадцать лет.</a:t>
            </a:r>
            <a:endParaRPr lang="en-US" sz="1550" dirty="0"/>
          </a:p>
          <a:p>
            <a:pPr marL="228600" indent="-2286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это время — десятки проектов в самых разных сферах: интернет-магазины, производство, услуги, учебные платформы, строительные компании.</a:t>
            </a:r>
            <a:endParaRPr lang="en-US" sz="1550" dirty="0"/>
          </a:p>
          <a:p>
            <a:pPr marL="228600" indent="-2286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принцип: сайт — не визитка «для галочки», а инструмент продаж. Он должен приводить клиентов и заявки.</a:t>
            </a:r>
            <a:endParaRPr lang="en-US" sz="1550" dirty="0"/>
          </a:p>
          <a:p>
            <a:pPr marL="228600" indent="-2286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с этой меркой подошёл к сайту вашего института.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97880" y="137160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80760" y="14813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0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 2007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80760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года создаю сайты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97880" y="2450592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8076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0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разные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80760" y="29809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сферы и задачи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97880" y="3529584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36393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0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продажи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80760" y="4059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работает на заявки, а не «просто есть»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Зачем институту новый сайт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институт — сильнейший научный центр отрасли с 1932 года. Но сайт сегодня не показывает эту силу клиенту.</a:t>
            </a:r>
            <a:endParaRPr lang="en-US" sz="155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ведь сайт — первое впечатление и главный источник новых обращений: клиент сначала видит сайт и только потом звонит.</a:t>
            </a:r>
            <a:endParaRPr lang="en-US" sz="155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— бережно сохранить весь ваш контент и превратить сайт в инструмент, который привлекает клиентов и приносит заявки.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623560" y="141732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23560" y="156362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410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1932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23560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основания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0" y="141732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0" y="156362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410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90+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315200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 опыта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23560" y="283464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23560" y="298094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410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623560" y="3657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научных работ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283464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298094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410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ТК 149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7315200" y="3657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техком отрасли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мешает сайту приносить заявки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действующего сайта показала — простыми словами: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8183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1D4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81328"/>
            <a:ext cx="329184" cy="329184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38988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версии для слабовидящих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 ГОСТ Р 52872-2019 обязательно для госучреждений; без неё — представление прокуратуры и предписание устранить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56816"/>
            <a:ext cx="8183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1D4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048256"/>
            <a:ext cx="329184" cy="329184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195681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поиске у сайта нет описания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 Яндексе и Google виден лишь обрывок «Главная» — реже кликают, и клиент уходит к коммерческим лабораториям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523744"/>
            <a:ext cx="8183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1D4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2615184"/>
            <a:ext cx="329184" cy="329184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252374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Адреса страниц русскими буквами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 письме превращаются в «%D0%BC…», часто обрезаются и не открываются — по такой ссылке реже переходят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090672"/>
            <a:ext cx="8183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1D4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182112"/>
            <a:ext cx="329184" cy="329184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30906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разделов не заполнена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например, в «Госзадании» осталась рабочая пометка — у посетителя ощущение недоделанности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8183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1D4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3749040"/>
            <a:ext cx="329184" cy="329184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36576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Негде оставить заявку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нет ни формы, ни кнопки — человек не понял, как обратиться, и ушёл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224528"/>
            <a:ext cx="8183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1D4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4315968"/>
            <a:ext cx="329184" cy="329184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43000" y="422452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на устаревшей платформе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её нужно постоянно обновлять и защищать от взлома, иначе сайт уязвим и медленный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864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обычные болезни старого сайта — все они устранены в новом.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поиске находят конкурентов, а не вас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Проверил выдачу по вашим ключевым услугам. Результат показателен.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— первоисточник отрасли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566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ГОСТ Р 70412-2022 и секретариат ТК 149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Институт РАН с 1932 года, уникальная приборная база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в поиске по своим же услугам сайт почти не виден — из-за пустых описаний и тонких страниц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В ТОПЕ — коммерческие лаборатории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2011680"/>
            <a:ext cx="3566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запросам «срок годности кондитерских», «экспертиза шоколада и какао» в топе — «Веста» (testslab.ru), ecert, vostoktest и др.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Научного веса у них меньше — но именно они забирают ваших клиентов из поиска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895344"/>
            <a:ext cx="3977640" cy="822960"/>
          </a:xfrm>
          <a:prstGeom prst="roundRect">
            <a:avLst>
              <a:gd name="adj" fmla="val 7778"/>
            </a:avLst>
          </a:prstGeom>
          <a:solidFill>
            <a:srgbClr val="E6F4EC"/>
          </a:solidFill>
          <a:ln w="12700">
            <a:solidFill>
              <a:srgbClr val="147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95344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сайт — уже с SEO. 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Правильные заголовки и описания, разметка, скорость, страницы под запросы — чтобы находили вас, а не конкурентов.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3895344"/>
            <a:ext cx="3977640" cy="822960"/>
          </a:xfrm>
          <a:prstGeom prst="roundRect">
            <a:avLst>
              <a:gd name="adj" fmla="val 7778"/>
            </a:avLst>
          </a:prstGeom>
          <a:solidFill>
            <a:srgbClr val="FDF3E2"/>
          </a:solidFill>
          <a:ln w="25400">
            <a:solidFill>
              <a:srgbClr val="E08A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895344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9C5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 ниша: 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запросам про КТ-контроль структуры пищевых продуктов конкурентов в поиске нет — эту нишу институт может занять первым.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791456"/>
            <a:ext cx="8183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Проверена выдача по 8 направлениям услуг (международный поиск, не Яндекс по регионам). Точные позиции с цифрами мест по городам — отдельным замером через сервис съёма позиций.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сайт стал красным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215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· синий вариант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0" y="9601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8F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 · фирменный красный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tmp/preza-shots/blue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25880"/>
            <a:ext cx="3931920" cy="2697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280160"/>
            <a:ext cx="40233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tmp/preza-shots/c-ho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325880"/>
            <a:ext cx="3931920" cy="2697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4187952"/>
            <a:ext cx="8183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Синяя палитра чаще всего подходит госучреждениям и выглядит достойно и солидно. Но, посмотрев сайты семейства головного Института им. В.М. Горбатова, я понял: основная палитра — красная, и переделал сайт под неё — чтобы он остался «своим» среди родственных центров.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Красный — цвет центров Горбатова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Институт — часть большого семейства научных центров ФНЦ им. В.М. Горбатова. Их сайты выдержаны в красной гамме.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8463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preza-shots/fam-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54480"/>
            <a:ext cx="475488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07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Испытательный центр ФНЦ Горбатова — тот же красный фирменный стиль.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32120" y="1554480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FCE9EA"/>
          </a:solidFill>
          <a:ln w="12700">
            <a:solidFill>
              <a:srgbClr val="F4DC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79008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79008" y="224028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института не должен выбиваться из этого семейства. Поэтому фирменный цвет нового сайта — красный, как у «родственных» центров Горбатова.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Семь сторон, важных для результата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подход — оценивать сайт не «нравится / не нравится», а с семи сторон. Каждая влияет на заявки и доверие клиента.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02920" cy="502920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61288" y="14996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Удобство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61288" y="1810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ли человеку найти нужное и не запутаться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414016"/>
            <a:ext cx="502920" cy="502920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61288" y="23408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вид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61288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выглядит ли сайт солидно, на уровне института РАН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255264"/>
            <a:ext cx="502920" cy="502920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55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61288" y="31821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Тексты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61288" y="3493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понятно ли клиенту, чем вы можете быть полезны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96512"/>
            <a:ext cx="502920" cy="502920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61288" y="40233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61288" y="43342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превращается ли посетитель в обращение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1572768"/>
            <a:ext cx="502920" cy="502920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504688" y="14996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Видимость в поиске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504688" y="1810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находят ли вас в Яндексе и Google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2414016"/>
            <a:ext cx="502920" cy="502920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504688" y="23408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504688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могут ли пользоваться сайтом люди с плохим зрением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255264"/>
            <a:ext cx="502920" cy="502920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255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504688" y="31821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504688" y="3493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онлайн-сервисы, которых нет у других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Было — Стало (1 из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81838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362456"/>
            <a:ext cx="457200" cy="457200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362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29844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Удобство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9C5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Было: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научный материал есть, но новому клиенту трудно сориентироваться   </a:t>
            </a:r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Стало: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понятный путь «задача → решение → заявка», поиск и удобное меню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81838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258568"/>
            <a:ext cx="457200" cy="457200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19456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вид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25880" y="2496312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9C5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Было: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 рабочий сайт, но не выглядит на уровне РАН   </a:t>
            </a:r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Стало: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оформление уровня института и фирменный красный центров Горбатова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980944"/>
            <a:ext cx="81838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154680"/>
            <a:ext cx="457200" cy="457200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09067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Тексты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25880" y="339242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9C5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Было: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номенклатура есть, но написана сухо, без пользы для клиента   </a:t>
            </a:r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Стало: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понятный язык выгод, примеры и решения под задачу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877056"/>
            <a:ext cx="81838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4050792"/>
            <a:ext cx="457200" cy="457200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98678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325880" y="4288536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9C5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Было: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 есть, но негде оставить заявку — клиент уходит   </a:t>
            </a:r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Стало: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формы, кнопки и онлайн-помощник, который отвечает на вопросы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Было — Стало (2 из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81838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440180"/>
            <a:ext cx="457200" cy="457200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440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29844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Видимость в поиске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9C5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Было: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слабо виден и теряет позиции   </a:t>
            </a:r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Стало: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настроено так, чтобы вас находили в Яндексе и Google и чаще кликали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81838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519172"/>
            <a:ext cx="457200" cy="457200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5191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37744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25880" y="2679192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9C5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Было: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версии для слабовидящих   </a:t>
            </a:r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Стало: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полноценная версия для слабовидящих — по ГОСТ Р 52872, как положено сайтам госструктур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46704"/>
            <a:ext cx="81838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598164"/>
            <a:ext cx="457200" cy="457200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5981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45643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25880" y="375818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9C5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Было: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текст, никаких онлайн-сервисов   </a:t>
            </a:r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Стало: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онлайн-расчёты, каталог с поиском, рабочий кабинет и праздничные баннеры отрасли, которые появляются сами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Главная: было и стало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9C5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· ваш сайт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0" y="9601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САЙТ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233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tmp/preza-shots/current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3931920" cy="2697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280160"/>
            <a:ext cx="40233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tmp/preza-shots/c-ho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325880"/>
            <a:ext cx="3931920" cy="2697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422452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текстовой страницы — к современному сайту, где клиенту понятно, что вы делаете и как к вам обратиться.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нового — и чем это полезно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это уже сделано в прототипе и работает на заявки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438912" cy="438912"/>
          </a:xfrm>
          <a:prstGeom prst="ellipse">
            <a:avLst/>
          </a:prstGeom>
          <a:solidFill>
            <a:srgbClr val="147A4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52728" y="1371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из 125 услуг с поиском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52728" y="16642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за секунды находит нужное — меньше звонков «а вы это делаете?»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463040"/>
            <a:ext cx="438912" cy="438912"/>
          </a:xfrm>
          <a:prstGeom prst="ellipse">
            <a:avLst/>
          </a:prstGeom>
          <a:solidFill>
            <a:srgbClr val="147A45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58968" y="1371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Онлайн-помощники для клиента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58968" y="16642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подбирает услуги и оставляет заявку — сайт работает как менеджер 24/7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02920" y="2194560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DF3E2"/>
          </a:solidFill>
          <a:ln w="25400">
            <a:solidFill>
              <a:srgbClr val="E08A1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377440"/>
            <a:ext cx="438912" cy="438912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52728" y="22860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 КТ-исследование структуры</a:t>
            </a:r>
            <a:pPr indent="0" marL="0">
              <a:buNone/>
            </a:pPr>
            <a:r>
              <a:rPr lang="en-US" sz="1250" b="1" dirty="0">
                <a:solidFill>
                  <a:srgbClr val="9C5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уникально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52728" y="25786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такого нет ни у кого — услугу можно доработать и добавить, сильное отличие от конкурентов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377440"/>
            <a:ext cx="438912" cy="438912"/>
          </a:xfrm>
          <a:prstGeom prst="ellipse">
            <a:avLst/>
          </a:prstGeom>
          <a:solidFill>
            <a:srgbClr val="147A45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458968" y="22860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кабинет лаборатории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58968" y="25786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образцы, протоколы и приборы в одном месте; разворачивается под каждую лабораторию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02920" y="3108960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3291840"/>
            <a:ext cx="438912" cy="438912"/>
          </a:xfrm>
          <a:prstGeom prst="ellipse">
            <a:avLst/>
          </a:prstGeom>
          <a:solidFill>
            <a:srgbClr val="147A45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252728" y="3200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ваши данные перенесены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52728" y="34930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руководство, отделы, публикации, документы — сайт сразу живой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709160" y="3108960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291840"/>
            <a:ext cx="438912" cy="438912"/>
          </a:xfrm>
          <a:prstGeom prst="ellipse">
            <a:avLst/>
          </a:prstGeom>
          <a:solidFill>
            <a:srgbClr val="147A45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5458968" y="3200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для слабовидящих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58968" y="34930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ГОСТ Р 52872 — обязательное требование для госучреждения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502920" y="4023360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" y="4206240"/>
            <a:ext cx="438912" cy="438912"/>
          </a:xfrm>
          <a:prstGeom prst="ellipse">
            <a:avLst/>
          </a:prstGeom>
          <a:solidFill>
            <a:srgbClr val="147A45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206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1252728" y="4114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Электронная библиотека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252728" y="4407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готово, можно наполнять; по желанию — доступ по подписке, аспирантам бесплатно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4709160" y="4023360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4206240"/>
            <a:ext cx="438912" cy="438912"/>
          </a:xfrm>
          <a:prstGeom prst="ellipse">
            <a:avLst/>
          </a:prstGeom>
          <a:solidFill>
            <a:srgbClr val="147A45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4206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5458968" y="4114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Заявки, помощник и SEO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58968" y="4407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 и онлайн-помощник + поисковая оптимизация (SEO) под Яндекс и Google</a:t>
            </a:r>
            <a:endParaRPr lang="en-US" sz="9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ИНТРОСКАН и ЭХОСКАН — нет ни у кого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собственные разработки института для неразрушающего контроля. У конкурентов в поиске их нет вообще.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4023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preza-shots/introsc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3931920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09160" y="1371600"/>
            <a:ext cx="4023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tmp/preza-shots/echosca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417320"/>
            <a:ext cx="3931920" cy="2057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3566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ИНТРОСКАН </a:t>
            </a:r>
            <a:pPr algn="ctr" indent="0" marL="0">
              <a:buNone/>
            </a:pPr>
            <a:r>
              <a:rPr lang="en-US" sz="1400" b="1" dirty="0">
                <a:solidFill>
                  <a:srgbClr val="9C5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лаборатория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3840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Глубокий анализ структуры и пористости по КТ — точная картина по образцу.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754880" y="3566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ЭХОСКАН </a:t>
            </a:r>
            <a:pPr algn="ctr" indent="0" marL="0">
              <a:buNone/>
            </a:pPr>
            <a:r>
              <a:rPr lang="en-US" sz="1400" b="1" dirty="0">
                <a:solidFill>
                  <a:srgbClr val="9C5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линия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754880" y="3840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Акустический скрининг на конвейере — сплошная отбраковка прямо в потоке.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4434840"/>
            <a:ext cx="8183880" cy="566928"/>
          </a:xfrm>
          <a:prstGeom prst="roundRect">
            <a:avLst>
              <a:gd name="adj" fmla="val 11290"/>
            </a:avLst>
          </a:prstGeom>
          <a:solidFill>
            <a:srgbClr val="FDF3E2"/>
          </a:solidFill>
          <a:ln w="25400">
            <a:solidFill>
              <a:srgbClr val="E08A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44348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5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Собственные разработки ВНИИ КП. </a:t>
            </a:r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Подобной линейки неразрушающего контроля нет ни у одной лаборатории — сильное отличие и повод выбрать вас.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Праздники отрасли — на автомате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Приятная деталь, которая выделяет вас и работает на лояльность клиентов.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16636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preza-shots/festive-bann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5074920" cy="2542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0690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выглядит баннер «С Днём кондитера», который сайт показал сам.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806440" y="1508760"/>
            <a:ext cx="2834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0" y="1700784"/>
            <a:ext cx="411480" cy="411480"/>
          </a:xfrm>
          <a:prstGeom prst="ellipse">
            <a:avLst/>
          </a:prstGeom>
          <a:solidFill>
            <a:srgbClr val="147A45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700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4652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Появляется автоматически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46520" y="18562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даты праздников отрасли: День кондитера, шоколада, пряника, печенья, работника пищепрома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5806440" y="2468880"/>
            <a:ext cx="2834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0" y="2660904"/>
            <a:ext cx="411480" cy="411480"/>
          </a:xfrm>
          <a:prstGeom prst="ellipse">
            <a:avLst/>
          </a:prstGeom>
          <a:solidFill>
            <a:srgbClr val="147A45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4652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Меняете сами, без программиста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46520" y="2816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даты, тексты и кнопку настраиваете в админке — сразу видно превью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5806440" y="3429000"/>
            <a:ext cx="2834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3621024"/>
            <a:ext cx="411480" cy="411480"/>
          </a:xfrm>
          <a:prstGeom prst="ellipse">
            <a:avLst/>
          </a:prstGeom>
          <a:solidFill>
            <a:srgbClr val="147A45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0" y="3621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4652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добавить свой праздник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446520" y="3776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 своей иконкой и ссылкой на акцию или новость</a:t>
            </a:r>
            <a:endParaRPr lang="en-US" sz="8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выглядит новый сайт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уже работает в прототипе — можно открыть и попробовать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700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preza-shots/c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2578608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2336" y="279806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91840" y="1325880"/>
            <a:ext cx="26700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tmp/preza-shots/c-uslug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37560" y="1371600"/>
            <a:ext cx="2578608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82696" y="279806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из 125 услуг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172200" y="1325880"/>
            <a:ext cx="26700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/tmp/preza-shots/c-instrument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371600"/>
            <a:ext cx="2578608" cy="1371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63056" y="279806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Онлайн-помощники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11480" y="3081528"/>
            <a:ext cx="26700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3" descr="/tmp/preza-shots/new-k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" y="3127248"/>
            <a:ext cx="2578608" cy="1371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02336" y="455371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КТ-исследование · онлайн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3291840" y="3081528"/>
            <a:ext cx="26700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4" descr="/tmp/preza-shots/c-oinstitut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337560" y="3127248"/>
            <a:ext cx="2578608" cy="1371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82696" y="455371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 институте · ваши данные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6172200" y="3081528"/>
            <a:ext cx="26700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5" descr="/tmp/preza-shots/new-library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217920" y="3127248"/>
            <a:ext cx="2578608" cy="1371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63056" y="455371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Электронная библиотека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Рабочий кабинет для сотрудников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лаборатории и руководства — в одном окне, в том числе с телефона.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preza-shots/c-kabin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17320"/>
            <a:ext cx="502920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1371600"/>
            <a:ext cx="1508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tmp/preza-shots/cab-mobi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1417320"/>
            <a:ext cx="1417320" cy="2788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0664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680960" y="1444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для руководителя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680960" y="17007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заявки, выручка, занятость приборов — на одном экране</a:t>
            </a:r>
            <a:endParaRPr lang="en-US" sz="830" dirty="0"/>
          </a:p>
        </p:txBody>
      </p:sp>
      <p:sp>
        <p:nvSpPr>
          <p:cNvPr id="11" name="Text 7"/>
          <p:cNvSpPr/>
          <p:nvPr/>
        </p:nvSpPr>
        <p:spPr>
          <a:xfrm>
            <a:off x="740664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680960" y="21579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образцов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680960" y="241401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приёма до протокола, виден статус каждого</a:t>
            </a:r>
            <a:endParaRPr lang="en-US" sz="830" dirty="0"/>
          </a:p>
        </p:txBody>
      </p:sp>
      <p:sp>
        <p:nvSpPr>
          <p:cNvPr id="14" name="Text 10"/>
          <p:cNvSpPr/>
          <p:nvPr/>
        </p:nvSpPr>
        <p:spPr>
          <a:xfrm>
            <a:off x="740664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680960" y="28712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рукой у каждого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680960" y="31272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менеджера, бухгалтерии, лаборатории и директора</a:t>
            </a:r>
            <a:endParaRPr lang="en-US" sz="830" dirty="0"/>
          </a:p>
        </p:txBody>
      </p:sp>
      <p:sp>
        <p:nvSpPr>
          <p:cNvPr id="17" name="Text 13"/>
          <p:cNvSpPr/>
          <p:nvPr/>
        </p:nvSpPr>
        <p:spPr>
          <a:xfrm>
            <a:off x="740664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680960" y="3584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с телефона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680960" y="3840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всегда с собой, не только за рабочим столом</a:t>
            </a:r>
            <a:endParaRPr lang="en-US" sz="8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Кабинеты под каждую роль и задачу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сотрудника своё рабочее место. Под ваши процессы можно сделать любой нужный функционал.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02996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preza-shots/admin-direc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1938528" cy="1170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67004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· сводка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578608" y="1417320"/>
            <a:ext cx="202996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tmp/preza-shots/admin-manag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24328" y="1463040"/>
            <a:ext cx="1938528" cy="11704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8608" y="267004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· заявки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745736" y="1417320"/>
            <a:ext cx="202996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/tmp/preza-shots/admin-accountan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91456" y="1463040"/>
            <a:ext cx="1938528" cy="11704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45736" y="267004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Бухгалтерия · отчёты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6912864" y="1417320"/>
            <a:ext cx="202996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3" descr="/tmp/preza-shots/admin-lab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58584" y="1463040"/>
            <a:ext cx="1938528" cy="11704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12864" y="267004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Лаборатория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502920" y="324612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85800" y="3410712"/>
            <a:ext cx="384048" cy="384048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18" name="Text 12"/>
          <p:cNvSpPr/>
          <p:nvPr/>
        </p:nvSpPr>
        <p:spPr>
          <a:xfrm>
            <a:off x="68580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85800" y="3877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кабинеты для каждого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85800" y="41513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директор, менеджер, бухгалтерия, лаборатория, научный сотрудник — у каждого своё рабочее место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246120" y="324612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429000" y="3410712"/>
            <a:ext cx="384048" cy="384048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23" name="Text 17"/>
          <p:cNvSpPr/>
          <p:nvPr/>
        </p:nvSpPr>
        <p:spPr>
          <a:xfrm>
            <a:off x="342900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3429000" y="3877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и отчёты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3429000" y="41513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ставит задачи сотрудникам прямо в кабинете и принимает отчёты о выполнении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989320" y="324612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172200" y="3410712"/>
            <a:ext cx="384048" cy="384048"/>
          </a:xfrm>
          <a:prstGeom prst="ellipse">
            <a:avLst/>
          </a:prstGeom>
          <a:solidFill>
            <a:srgbClr val="C41019"/>
          </a:solidFill>
          <a:ln/>
        </p:spPr>
      </p:sp>
      <p:sp>
        <p:nvSpPr>
          <p:cNvPr id="28" name="Text 22"/>
          <p:cNvSpPr/>
          <p:nvPr/>
        </p:nvSpPr>
        <p:spPr>
          <a:xfrm>
            <a:off x="617220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172200" y="3877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функционал — на заказ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6172200" y="41513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конкретного сотрудника или процесс разработаем нужное; кабинет растёт под ваши задачи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Два варианта первого экрана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СВЕТЛЫЙ · моя рекомендация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0" y="9601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НАСЫЩЕННЫЙ КРАСНЫЙ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233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tmp/preza-shots/c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3931920" cy="2697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280160"/>
            <a:ext cx="40233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tmp/preza-shots/new-v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325880"/>
            <a:ext cx="3931920" cy="2697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4224528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Светлый вариант мягче для глаз и не перегружает, при этом фирменный красный остаётся в шапке и кнопках.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560320"/>
            <a:ext cx="4023360" cy="4023360"/>
          </a:xfrm>
          <a:prstGeom prst="ellipse">
            <a:avLst/>
          </a:prstGeom>
          <a:solidFill>
            <a:srgbClr val="C41019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Моё предложение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Редизайн сайта для вашего филиала я выполняю бесплатно — в рамках взаимных партнёрских интересов.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09344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Интерес честный и долгосрочный: сильный сайт филиала заметят в головном институте и в других филиалах — для них подобный сайт уже может быть на платной основе.</a:t>
            </a:r>
            <a:endParaRPr lang="en-US" sz="1300" dirty="0"/>
          </a:p>
          <a:p>
            <a:pPr marL="228600" indent="-2286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 работа войдёт в моё профессиональное портфолио.</a:t>
            </a:r>
            <a:endParaRPr lang="en-US" sz="1300" dirty="0"/>
          </a:p>
          <a:p>
            <a:pPr marL="228600" indent="-2286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меня будет ценна ваша рекомендация — для подобных институтов и проектов.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7955280" cy="914400"/>
          </a:xfrm>
          <a:prstGeom prst="roundRect">
            <a:avLst>
              <a:gd name="adj" fmla="val 8000"/>
            </a:avLst>
          </a:prstGeom>
          <a:solidFill>
            <a:srgbClr val="E08A1E">
              <a:alpha val="14000"/>
            </a:srgbClr>
          </a:solidFill>
          <a:ln w="19050">
            <a:solidFill>
              <a:srgbClr val="E08A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246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 — продвижение в поиске (SEO).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 могу вести продвижение: вывести вас в топ по ключевым запросам услуг и первыми занять свободную КТ-нишу. Это уже отдельная, платная услуга.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6110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Предлагаю двигаться дальше вместе.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6085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 Едлин · создаю сайты с 2007 года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(909) 163-32-23   ·   em80@mail.ru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Редизайн сайта ВНИИ кондитерской промышленности</dc:title>
  <dc:subject>PptxGenJS Presentation</dc:subject>
  <dc:creator>Максим Едлин</dc:creator>
  <cp:lastModifiedBy>Максим Едлин</cp:lastModifiedBy>
  <cp:revision>1</cp:revision>
  <dcterms:created xsi:type="dcterms:W3CDTF">2026-06-10T03:55:49Z</dcterms:created>
  <dcterms:modified xsi:type="dcterms:W3CDTF">2026-06-10T03:55:49Z</dcterms:modified>
</cp:coreProperties>
</file>